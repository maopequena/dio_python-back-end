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9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96.xml" ContentType="application/vnd.openxmlformats-officedocument.presentationml.slide+xml"/>
  <Override PartName="/ppt/slides/slide7.xml" ContentType="application/vnd.openxmlformats-officedocument.presentationml.slide+xml"/>
  <Override PartName="/ppt/slides/slide72.xml" ContentType="application/vnd.openxmlformats-officedocument.presentationml.slide+xml"/>
  <Override PartName="/ppt/slides/slide77.xml" ContentType="application/vnd.openxmlformats-officedocument.presentationml.slide+xml"/>
  <Override PartName="/ppt/slides/slide123.xml" ContentType="application/vnd.openxmlformats-officedocument.presentationml.slide+xml"/>
  <Override PartName="/ppt/slides/slide60.xml" ContentType="application/vnd.openxmlformats-officedocument.presentationml.slide+xml"/>
  <Override PartName="/ppt/slides/slide78.xml" ContentType="application/vnd.openxmlformats-officedocument.presentationml.slide+xml"/>
  <Override PartName="/ppt/slides/slide124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125.xml" ContentType="application/vnd.openxmlformats-officedocument.presentationml.slide+xml"/>
  <Override PartName="/ppt/slides/slide62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126.xml" ContentType="application/vnd.openxmlformats-officedocument.presentationml.slide+xml"/>
  <Override PartName="/ppt/slides/slide63.xml" ContentType="application/vnd.openxmlformats-officedocument.presentationml.slide+xml"/>
  <Override PartName="/ppt/slides/slide95.xml" ContentType="application/vnd.openxmlformats-officedocument.presentationml.slide+xml"/>
  <Override PartName="/ppt/slides/slide122.xml" ContentType="application/vnd.openxmlformats-officedocument.presentationml.slide+xml"/>
  <Override PartName="/ppt/slides/slide76.xml" ContentType="application/vnd.openxmlformats-officedocument.presentationml.slide+xml"/>
  <Override PartName="/ppt/slides/slide119.xml" ContentType="application/vnd.openxmlformats-officedocument.presentationml.slide+xml"/>
  <Override PartName="/ppt/slides/slide107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18.xml" ContentType="application/vnd.openxmlformats-officedocument.presentationml.slide+xml"/>
  <Override PartName="/ppt/slides/slide106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117.xml" ContentType="application/vnd.openxmlformats-officedocument.presentationml.slide+xml"/>
  <Override PartName="/ppt/slides/slide89.xml" ContentType="application/vnd.openxmlformats-officedocument.presentationml.slide+xml"/>
  <Override PartName="/ppt/slides/slide73.xml" ContentType="application/vnd.openxmlformats-officedocument.presentationml.slide+xml"/>
  <Override PartName="/ppt/slides/slide116.xml" ContentType="application/vnd.openxmlformats-officedocument.presentationml.slide+xml"/>
  <Override PartName="/ppt/slides/slide88.xml" ContentType="application/vnd.openxmlformats-officedocument.presentationml.slide+xml"/>
  <Override PartName="/ppt/slides/slide109.xml" ContentType="application/vnd.openxmlformats-officedocument.presentationml.slide+xml"/>
  <Override PartName="/ppt/slides/slide108.xml" ContentType="application/vnd.openxmlformats-officedocument.presentationml.slide+xml"/>
  <Override PartName="/ppt/slides/slide87.xml" ContentType="application/vnd.openxmlformats-officedocument.presentationml.slide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91.xml.rels" ContentType="application/vnd.openxmlformats-package.relationships+xml"/>
  <Override PartName="/ppt/slides/_rels/slide26.xml.rels" ContentType="application/vnd.openxmlformats-package.relationships+xml"/>
  <Override PartName="/ppt/slides/_rels/slide104.xml.rels" ContentType="application/vnd.openxmlformats-package.relationships+xml"/>
  <Override PartName="/ppt/slides/_rels/slide92.xml.rels" ContentType="application/vnd.openxmlformats-package.relationships+xml"/>
  <Override PartName="/ppt/slides/_rels/slide27.xml.rels" ContentType="application/vnd.openxmlformats-package.relationships+xml"/>
  <Override PartName="/ppt/slides/_rels/slide105.xml.rels" ContentType="application/vnd.openxmlformats-package.relationships+xml"/>
  <Override PartName="/ppt/slides/_rels/slide14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28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32.xml.rels" ContentType="application/vnd.openxmlformats-package.relationships+xml"/>
  <Override PartName="/ppt/slides/_rels/slide65.xml.rels" ContentType="application/vnd.openxmlformats-package.relationships+xml"/>
  <Override PartName="/ppt/slides/_rels/slide111.xml.rels" ContentType="application/vnd.openxmlformats-package.relationships+xml"/>
  <Override PartName="/ppt/slides/_rels/slide33.xml.rels" ContentType="application/vnd.openxmlformats-package.relationships+xml"/>
  <Override PartName="/ppt/slides/_rels/slide112.xml.rels" ContentType="application/vnd.openxmlformats-package.relationships+xml"/>
  <Override PartName="/ppt/slides/_rels/slide34.xml.rels" ContentType="application/vnd.openxmlformats-package.relationships+xml"/>
  <Override PartName="/ppt/slides/_rels/slide113.xml.rels" ContentType="application/vnd.openxmlformats-package.relationships+xml"/>
  <Override PartName="/ppt/slides/_rels/slide35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14.xml.rels" ContentType="application/vnd.openxmlformats-package.relationships+xml"/>
  <Override PartName="/ppt/slides/_rels/slide36.xml.rels" ContentType="application/vnd.openxmlformats-package.relationships+xml"/>
  <Override PartName="/ppt/slides/_rels/slide115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94.xml.rels" ContentType="application/vnd.openxmlformats-package.relationships+xml"/>
  <Override PartName="/ppt/slides/_rels/slide107.xml.rels" ContentType="application/vnd.openxmlformats-package.relationships+xml"/>
  <Override PartName="/ppt/slides/_rels/slide1.xml.rels" ContentType="application/vnd.openxmlformats-package.relationships+xml"/>
  <Override PartName="/ppt/slides/_rels/slide71.xml.rels" ContentType="application/vnd.openxmlformats-package.relationships+xml"/>
  <Override PartName="/ppt/slides/_rels/slide68.xml.rels" ContentType="application/vnd.openxmlformats-package.relationships+xml"/>
  <Override PartName="/ppt/slides/_rels/slide122.xml.rels" ContentType="application/vnd.openxmlformats-package.relationships+xml"/>
  <Override PartName="/ppt/slides/_rels/slide44.xml.rels" ContentType="application/vnd.openxmlformats-package.relationships+xml"/>
  <Override PartName="/ppt/slides/_rels/slide108.xml.rels" ContentType="application/vnd.openxmlformats-package.relationships+xml"/>
  <Override PartName="/ppt/slides/_rels/slide95.xml.rels" ContentType="application/vnd.openxmlformats-package.relationships+xml"/>
  <Override PartName="/ppt/slides/_rels/slide2.xml.rels" ContentType="application/vnd.openxmlformats-package.relationships+xml"/>
  <Override PartName="/ppt/slides/_rels/slide60.xml.rels" ContentType="application/vnd.openxmlformats-package.relationships+xml"/>
  <Override PartName="/ppt/slides/_rels/slide109.xml.rels" ContentType="application/vnd.openxmlformats-package.relationships+xml"/>
  <Override PartName="/ppt/slides/_rels/slide96.xml.rels" ContentType="application/vnd.openxmlformats-package.relationships+xml"/>
  <Override PartName="/ppt/slides/_rels/slide3.xml.rels" ContentType="application/vnd.openxmlformats-package.relationships+xml"/>
  <Override PartName="/ppt/slides/_rels/slide87.xml.rels" ContentType="application/vnd.openxmlformats-package.relationships+xml"/>
  <Override PartName="/ppt/slides/_rels/slide116.xml.rels" ContentType="application/vnd.openxmlformats-package.relationships+xml"/>
  <Override PartName="/ppt/slides/_rels/slide38.xml.rels" ContentType="application/vnd.openxmlformats-package.relationships+xml"/>
  <Override PartName="/ppt/slides/_rels/slide89.xml.rels" ContentType="application/vnd.openxmlformats-package.relationships+xml"/>
  <Override PartName="/ppt/slides/_rels/slide88.xml.rels" ContentType="application/vnd.openxmlformats-package.relationships+xml"/>
  <Override PartName="/ppt/slides/_rels/slide117.xml.rels" ContentType="application/vnd.openxmlformats-package.relationships+xml"/>
  <Override PartName="/ppt/slides/_rels/slide39.xml.rels" ContentType="application/vnd.openxmlformats-package.relationships+xml"/>
  <Override PartName="/ppt/slides/_rels/slide79.xml.rels" ContentType="application/vnd.openxmlformats-package.relationships+xml"/>
  <Override PartName="/ppt/slides/_rels/slide118.xml.rels" ContentType="application/vnd.openxmlformats-package.relationships+xml"/>
  <Override PartName="/ppt/slides/_rels/slide66.xml.rels" ContentType="application/vnd.openxmlformats-package.relationships+xml"/>
  <Override PartName="/ppt/slides/_rels/slide120.xml.rels" ContentType="application/vnd.openxmlformats-package.relationships+xml"/>
  <Override PartName="/ppt/slides/_rels/slide42.xml.rels" ContentType="application/vnd.openxmlformats-package.relationships+xml"/>
  <Override PartName="/ppt/slides/_rels/slide70.xml.rels" ContentType="application/vnd.openxmlformats-package.relationships+xml"/>
  <Override PartName="/ppt/slides/_rels/slide119.xml.rels" ContentType="application/vnd.openxmlformats-package.relationships+xml"/>
  <Override PartName="/ppt/slides/_rels/slide67.xml.rels" ContentType="application/vnd.openxmlformats-package.relationships+xml"/>
  <Override PartName="/ppt/slides/_rels/slide121.xml.rels" ContentType="application/vnd.openxmlformats-package.relationships+xml"/>
  <Override PartName="/ppt/slides/_rels/slide43.xml.rels" ContentType="application/vnd.openxmlformats-package.relationships+xml"/>
  <Override PartName="/ppt/slides/_rels/slide126.xml.rels" ContentType="application/vnd.openxmlformats-package.relationships+xml"/>
  <Override PartName="/ppt/slides/_rels/slide48.xml.rels" ContentType="application/vnd.openxmlformats-package.relationships+xml"/>
  <Override PartName="/ppt/slides/_rels/slide86.xml.rels" ContentType="application/vnd.openxmlformats-package.relationships+xml"/>
  <Override PartName="/ppt/slides/_rels/slide85.xml.rels" ContentType="application/vnd.openxmlformats-package.relationships+xml"/>
  <Override PartName="/ppt/slides/_rels/slide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10.xml.rels" ContentType="application/vnd.openxmlformats-package.relationships+xml"/>
  <Override PartName="/ppt/slides/_rels/slide84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56.xml.rels" ContentType="application/vnd.openxmlformats-package.relationships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97.xml.rels" ContentType="application/vnd.openxmlformats-package.relationships+xml"/>
  <Override PartName="/ppt/slides/_rels/slide55.xml.rels" ContentType="application/vnd.openxmlformats-package.relationships+xml"/>
  <Override PartName="/ppt/slides/_rels/slide31.xml.rels" ContentType="application/vnd.openxmlformats-package.relationships+xml"/>
  <Override PartName="/ppt/slides/_rels/slide54.xml.rels" ContentType="application/vnd.openxmlformats-package.relationships+xml"/>
  <Override PartName="/ppt/slides/_rels/slide30.xml.rels" ContentType="application/vnd.openxmlformats-package.relationships+xml"/>
  <Override PartName="/ppt/slides/_rels/slide53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25.xml.rels" ContentType="application/vnd.openxmlformats-package.relationships+xml"/>
  <Override PartName="/ppt/slides/_rels/slide103.xml.rels" ContentType="application/vnd.openxmlformats-package.relationships+xml"/>
  <Override PartName="/ppt/slides/_rels/slide90.xml.rels" ContentType="application/vnd.openxmlformats-package.relationships+xml"/>
  <Override PartName="/ppt/slides/_rels/slide11.xml.rels" ContentType="application/vnd.openxmlformats-package.relationships+xml"/>
  <Override PartName="/ppt/slides/_rels/slide102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45.xml.rels" ContentType="application/vnd.openxmlformats-package.relationships+xml"/>
  <Override PartName="/ppt/slides/_rels/slide123.xml.rels" ContentType="application/vnd.openxmlformats-package.relationships+xml"/>
  <Override PartName="/ppt/slides/_rels/slide69.xml.rels" ContentType="application/vnd.openxmlformats-package.relationships+xml"/>
  <Override PartName="/ppt/slides/_rels/slide46.xml.rels" ContentType="application/vnd.openxmlformats-package.relationships+xml"/>
  <Override PartName="/ppt/slides/_rels/slide124.xml.rels" ContentType="application/vnd.openxmlformats-package.relationships+xml"/>
  <Override PartName="/ppt/slides/_rels/slide47.xml.rels" ContentType="application/vnd.openxmlformats-package.relationships+xml"/>
  <Override PartName="/ppt/slides/_rels/slide125.xml.rels" ContentType="application/vnd.openxmlformats-package.relationships+xml"/>
  <Override PartName="/ppt/slides/slide71.xml" ContentType="application/vnd.openxmlformats-officedocument.presentationml.slide+xml"/>
  <Override PartName="/ppt/slides/slide94.xml" ContentType="application/vnd.openxmlformats-officedocument.presentationml.slide+xml"/>
  <Override PartName="/ppt/slides/slide29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69.xml" ContentType="application/vnd.openxmlformats-officedocument.presentationml.slide+xml"/>
  <Override PartName="/ppt/slides/slide114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67.xml" ContentType="application/vnd.openxmlformats-officedocument.presentationml.slide+xml"/>
  <Override PartName="/ppt/slides/slide112.xml" ContentType="application/vnd.openxmlformats-officedocument.presentationml.slide+xml"/>
  <Override PartName="/ppt/slides/slide66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9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F0AB9FB-FF9C-41FF-B7C3-F2C82FCB8879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66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41;g109ffa863cd_0_270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buNone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</a:t>
            </a: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5CA6988-30B0-466D-AE57-4B4AB802907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62E6986-CDA3-428D-9121-9DB5DE531ED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pt-BR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pt-BR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BE1FC39-9B98-4221-A872-347560FA481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7D40F62-131D-40E9-899B-8927FB68399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sldNum" idx="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15222541-BAF1-4681-9499-922FB31E901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BR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6895E9D-757C-4AEC-A67D-138A5219460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indent="0">
              <a:buNone/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5E8447F-5257-4555-8013-5AF52D19FEC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E0279D9-08BA-4700-A45F-847C4420D97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DCEFEE5-3DE1-401A-81C6-9C96BBC2296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0000" lnSpcReduction="19999"/>
          </a:bodyPr>
          <a:p>
            <a:pPr indent="0">
              <a:buNone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6F92B47-78E1-4B09-8B1D-33E866B573F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8;g109ffa863cd_0_240" descr=""/>
          <p:cNvPicPr/>
          <p:nvPr/>
        </p:nvPicPr>
        <p:blipFill>
          <a:blip r:embed="rId2"/>
          <a:stretch/>
        </p:blipFill>
        <p:spPr>
          <a:xfrm>
            <a:off x="8127360" y="11988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7853E8A-C1EB-4B69-ABFF-50C42B81D7E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hyperlink" Target="https://github.com/torvalds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hyperlink" Target="https://github.com/torvalds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hyperlink" Target="https://discord.com/invite/gFKWUdTkaj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Programação orientada a objetos (POO)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sldNum" idx="1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82DA3DB-1B54-46FD-ACBA-40E3991A8B0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Conhecer o paradigma de programação orientada a objetos.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Num" idx="1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0069962-B922-4360-B943-491770AA71B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1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27AF509-98E7-4BCE-A080-0CBD0509BC8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sldNum" idx="1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C7B907D-10CC-4807-9595-7F9BF21D4CA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86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8" name="Google Shape;87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88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é POO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89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sldNum" idx="1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76C2C174-C55F-4AAF-8AC6-D12ED47BEC7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95;g1387437fc74_0_43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6;g1387437fc74_0_43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Paradigmas de programação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sldNum" idx="1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0080966-F2EE-4A1C-BE79-384FFECC1E3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2;g1387437fc74_0_49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Problema: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 Beber água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Solução 1: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 Usar um copo para beber água.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Solução 2: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 Usar uma garrafa para beber água.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03;g1387437fc74_0_49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1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10EBCA7-B525-4860-9268-45E0D014A4D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9;g1387437fc74_0_5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Imperativo ou procedural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Funcional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Orientado a eventos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10;g1387437fc74_0_5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Alguns paradigmas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2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BE1128B-B116-41F9-9C46-08FDF593694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16;g109ffa863cd_0_328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classes e objetos.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17;g109ffa863cd_0_328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Programação orientada a objetos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2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1467A57-7AD8-49D7-9467-9814169C875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23;g1387437fc74_0_34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24;g1387437fc74_0_34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25;g1387437fc74_0_34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2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E01E182-3C5E-4699-8976-B0E46041C81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1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32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Num" idx="2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1228BAB-E2BC-4BF7-B90D-6E4229188AD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39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40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41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sldNum" idx="2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793BCBAC-6F3B-448F-A5F3-BBBE62A4EC9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Classes e objetos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2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7787B714-1AC9-4E1B-82F8-AF189AB380A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Aprender a utilizar classes e objetos com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2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F3005DA-302D-4027-9D91-1A01308B861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sldNum" idx="2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782AAF5-0B9F-4E1A-86DC-4278B97D120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Conceito de classes e objetos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2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C6A9578-AD2C-4195-8C36-D77871357C9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Google Shape;82;p17"/>
          <p:cNvSpPr/>
          <p:nvPr/>
        </p:nvSpPr>
        <p:spPr>
          <a:xfrm>
            <a:off x="692640" y="2652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83;p17"/>
          <p:cNvSpPr/>
          <p:nvPr/>
        </p:nvSpPr>
        <p:spPr>
          <a:xfrm>
            <a:off x="2277000" y="27100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Primeiro programa com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88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2" name="Google Shape;89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90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Conceito de classes e objetos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Google Shape;91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sldNum" idx="2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CC5F5AF8-9786-4396-AC86-F4B158D9287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97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98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Classes e objetos?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3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049A898-AA68-44EE-A2E8-6DB9E0A3C1D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Num" idx="3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9F9468E-F8FF-476D-B910-5250AFF93B6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Google Shape;105;g1387437fc74_0_6" descr=""/>
          <p:cNvPicPr/>
          <p:nvPr/>
        </p:nvPicPr>
        <p:blipFill>
          <a:blip r:embed="rId1"/>
          <a:stretch/>
        </p:blipFill>
        <p:spPr>
          <a:xfrm>
            <a:off x="2643120" y="833400"/>
            <a:ext cx="3857400" cy="347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0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2" name="Google Shape;111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Classe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sldNum" idx="3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17BAB51B-200C-41BF-A184-2599F6D95B0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4" name="Google Shape;113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Cachorro: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__init__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nome, cor, acordado=True):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self.nome = nome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self.cor = cor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self.acordado = acordado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latir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print(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"Auau"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dormir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self.acordado =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print(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"Zzzzz..."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8;g138758748e6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6" name="Google Shape;119;g138758748e6_0_6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3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7FE668B-38FE-4108-8EE1-83ACF763B42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8" name="Google Shape;121;g138758748e6_0_62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cao_1 = Cachorro(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"chappie"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"amarelo"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cao_2 = Cachorro(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"Aladim"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"branco e preto"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cao_1.latir()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print(cao_2.acordado)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cao_2.dormir()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print(cao_2.acordado)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26;g1387437fc74_0_11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João tem uma bicicletaria e gostaria de registrar as vendas de suas bicicletas. Crie um programa onde João informe: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cor, modelo, ano e valor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 da bicicleta vendida. Uma bicicleta pode: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buzinar, parar e correr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. Adicione esses comportamentos!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27;g1387437fc74_0_11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Nosso primeiro programa POO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sldNum" idx="3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23B90BF-D8CD-4559-B7EA-AB443F39F25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33;g1387437fc74_0_25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34;g1387437fc74_0_25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35;g1387437fc74_0_25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3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2E7E1DD-7C12-4B95-9892-887528A21A79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Google Shape;137;g1387437fc74_0_25"/>
          <p:cNvSpPr/>
          <p:nvPr/>
        </p:nvSpPr>
        <p:spPr>
          <a:xfrm>
            <a:off x="692640" y="257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38;g1387437fc74_0_25"/>
          <p:cNvSpPr/>
          <p:nvPr/>
        </p:nvSpPr>
        <p:spPr>
          <a:xfrm>
            <a:off x="2277000" y="26290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Classes e objetos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43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44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ldNum" idx="3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816AFB7-889C-4563-BEE5-FB9CEEFD334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50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51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152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153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sldNum" idx="3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C9DD446E-74FB-4D4D-BA5F-A77826C8FC9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Construtores e destrutores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Num" idx="3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F90B67B-D220-4575-A971-103E8AD0CF8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Entender o conceito de construtor e destrutor.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ldNum" idx="3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50D72FD-434F-48CD-AC9A-AA99786FFE4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sldNum" idx="4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08BA913-B84D-4B51-A862-0382AA6493A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Conhecendo os métodos __init__ e __del__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sldNum" idx="4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846B730-5710-4224-98D7-1BCF7EB2D4C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86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0" name="Google Shape;87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88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Conhecendo os métodos __init__ e __del__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Google Shape;89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PlaceHolder 1"/>
          <p:cNvSpPr>
            <a:spLocks noGrp="1"/>
          </p:cNvSpPr>
          <p:nvPr>
            <p:ph type="sldNum" idx="4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32F27B5C-D173-4FC5-9CA8-848AA3B68AB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95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__init__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96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 construtor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Num" idx="4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8073321-2CE4-4622-A700-3B5151201DF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02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8" name="Google Shape;103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__init__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4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F5CC3A68-1388-4A68-8F6E-1E4905634C7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60" name="Google Shape;105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Cachorro: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__init__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nome, cor, acordado=True):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self.nome = nome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self.cor = cor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self.acordado = acordado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10;g13875fc1bcd_0_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__del__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11;g13875fc1bcd_0_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 destrutor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4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3EE6A01-AFA9-460B-AB02-AC9FDD25913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17;g13875fc1bcd_0_8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5" name="Google Shape;118;g13875fc1bcd_0_8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__del__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Num" idx="4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0AF4454-DED2-4961-9934-547A346EA5E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67" name="Google Shape;120;g13875fc1bcd_0_8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Cachorro: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__del__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print(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"Destruindo a instância"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 = Cachorro()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del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25;g13875fc1bcd_0_15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26;g13875fc1bcd_0_15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27;g13875fc1bcd_0_15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Conhecendo os métodos __init__ e __del__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4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10309EF8-5A37-43C0-B4A6-708E0105C32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3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34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4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9EDF199-9F74-43DA-8262-41275820A0E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40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41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142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143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sldNum" idx="4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8DA33B82-8741-4D87-B287-A0670288BF3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Herança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5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740E9051-62C7-4E81-9877-B216763B927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Aprender o que é herança em POO e como podemos utilizá-la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sldNum" idx="5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A76344D-E0F1-4A2E-B31D-DB6136E9815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5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46F1EE5-DE01-4E58-A468-F95125E2975C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em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sldNum" idx="5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90FB9FA-C503-47C0-9E5E-CF8F1EFAAD0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Google Shape;82;p17"/>
          <p:cNvSpPr/>
          <p:nvPr/>
        </p:nvSpPr>
        <p:spPr>
          <a:xfrm>
            <a:off x="678600" y="257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83;p17"/>
          <p:cNvSpPr/>
          <p:nvPr/>
        </p:nvSpPr>
        <p:spPr>
          <a:xfrm>
            <a:off x="2262600" y="26290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simples e herança múltipla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88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96" name="Google Shape;89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90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Herança em POO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Google Shape;91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1"/>
          <p:cNvSpPr>
            <a:spLocks noGrp="1"/>
          </p:cNvSpPr>
          <p:nvPr>
            <p:ph type="sldNum" idx="5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56671D07-F6A1-4717-86B5-3D0B2D3F83E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97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Em programação herança é a capacidade de uma classe filha derivar ou herdar as características e comportamentos da classe pai (base).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98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é herança?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sldNum" idx="5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6B41CC3-86DC-46EB-84C6-F4AAA7DB244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104;g1387610439e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Representa bem os relacionamentos do mundo real.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*É de natureza transitiva, o que significa que, se a classe B herdar da classe A, todas as subclasses de B herdarão automaticamente da classe 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105;g1387610439e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Benefícios da herança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5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7D3406D-06B4-4DB8-855E-CCA63F045F64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111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07" name="Google Shape;112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Sintaxe da herança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sldNum" idx="5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B1A9349-AA97-4977-9A7A-CC162A520C1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09" name="Google Shape;114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A: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B(A):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119;g1387610439e_0_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120;g1387610439e_0_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121;g1387610439e_0_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em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Num" idx="5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5685C5C-A685-4322-9FB1-D2E0A74333F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Google Shape;123;g1387610439e_0_17"/>
          <p:cNvSpPr/>
          <p:nvPr/>
        </p:nvSpPr>
        <p:spPr>
          <a:xfrm>
            <a:off x="678600" y="257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124;g1387610439e_0_17"/>
          <p:cNvSpPr/>
          <p:nvPr/>
        </p:nvSpPr>
        <p:spPr>
          <a:xfrm>
            <a:off x="2262600" y="26290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simples e herança múltipla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129;g1387610439e_0_36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7" name="Google Shape;130;g1387610439e_0_36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2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131;g1387610439e_0_36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Herança simples e herança múltipla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Google Shape;132;g1387610439e_0_36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PlaceHolder 1"/>
          <p:cNvSpPr>
            <a:spLocks noGrp="1"/>
          </p:cNvSpPr>
          <p:nvPr>
            <p:ph type="sldNum" idx="5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0ADB9A2E-AA62-4D43-8A25-7ACE3E8FAB7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38;g1387610439e_0_45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Quando uma classe filha herda apenas uma classe pai, ela é chamada de herança simples.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139;g1387610439e_0_45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Herança simples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sldNum" idx="6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DF2C112-8F2A-4D10-AFED-1F201CB269A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145;g1387610439e_0_6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25" name="Google Shape;146;g1387610439e_0_6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sldNum" idx="6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1782FF8C-5C28-484B-AD24-8DFCF4720DC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7" name="Google Shape;148;g1387610439e_0_60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A: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B(A):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153;g1387610439e_0_5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Quando uma classe filha herda de várias classes pai, ela é chamada de herança múltipla.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154;g1387610439e_0_5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Herança múltipla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sldNum" idx="6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E256BD0-35F6-4E88-9FD6-8513732584F9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160;g1387610439e_0_67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32" name="Google Shape;161;g1387610439e_0_67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sldNum" idx="6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B1F84D0-F3A2-4FE8-91F4-092AC4A2789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4" name="Google Shape;163;g1387610439e_0_67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A: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B: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C(A, B):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168;g1387610439e_0_26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169;g1387610439e_0_26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170;g1387610439e_0_26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em POO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sldNum" idx="6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D9D3DA2-D557-4F07-AC01-660FFAD5A98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Google Shape;172;g1387610439e_0_26"/>
          <p:cNvSpPr/>
          <p:nvPr/>
        </p:nvSpPr>
        <p:spPr>
          <a:xfrm>
            <a:off x="678600" y="257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173;g1387610439e_0_26"/>
          <p:cNvSpPr/>
          <p:nvPr/>
        </p:nvSpPr>
        <p:spPr>
          <a:xfrm>
            <a:off x="2262600" y="26290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Herança simples e herança múltipla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178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179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6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18CB4DE-8CCB-4A29-97C7-E316AA0472B4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185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186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Google Shape;187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Google Shape;188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PlaceHolder 1"/>
          <p:cNvSpPr>
            <a:spLocks noGrp="1"/>
          </p:cNvSpPr>
          <p:nvPr>
            <p:ph type="sldNum" idx="6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CB8998FF-4F1C-4F7B-B100-6DB6A7B5C8D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Encapsulamento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6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A1CEAFF-667E-4DF6-8E5E-9C6ACDC6C3B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Entender o conceito de encapsulamento e como podemos aplicá-lo utilizando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sldNum" idx="6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E7FDDCC-A264-4AF5-967D-688C219455B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sldNum" idx="6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13CF34D-2369-4B68-ADF8-8B760E1E032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encapsulamento?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Num" idx="7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F8AA06FB-63F0-471C-A2EB-4A5929BF50C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Google Shape;82;p17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83;p17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Recursos públicos e privados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84;p17"/>
          <p:cNvSpPr/>
          <p:nvPr/>
        </p:nvSpPr>
        <p:spPr>
          <a:xfrm>
            <a:off x="678600" y="32270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3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85;p17"/>
          <p:cNvSpPr/>
          <p:nvPr/>
        </p:nvSpPr>
        <p:spPr>
          <a:xfrm>
            <a:off x="2262600" y="32842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Properties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90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67" name="Google Shape;91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92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é encapsulamento?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93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PlaceHolder 1"/>
          <p:cNvSpPr>
            <a:spLocks noGrp="1"/>
          </p:cNvSpPr>
          <p:nvPr>
            <p:ph type="sldNum" idx="7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755E0C57-4298-40CC-95B2-7AC08638F3A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99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100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Proteção de acesso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sldNum" idx="7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9F607EF-A8B1-4DA2-9E53-2E81F70E69F9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Num" idx="7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EC3D327-CF51-4286-BE77-91629BDB3E7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5" name="Google Shape;107;g14b438a51ec_0_11" descr=""/>
          <p:cNvPicPr/>
          <p:nvPr/>
        </p:nvPicPr>
        <p:blipFill>
          <a:blip r:embed="rId1"/>
          <a:stretch/>
        </p:blipFill>
        <p:spPr>
          <a:xfrm>
            <a:off x="2057400" y="1100160"/>
            <a:ext cx="5028840" cy="29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112;g14b438a51ec_0_29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113;g14b438a51ec_0_29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114;g14b438a51ec_0_29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encapsulamento?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Num" idx="7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258C776-9E23-453E-B2B0-BD8ED515464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Google Shape;116;g14b438a51ec_0_29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117;g14b438a51ec_0_29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Recursos públicos e privados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118;g14b438a51ec_0_29"/>
          <p:cNvSpPr/>
          <p:nvPr/>
        </p:nvSpPr>
        <p:spPr>
          <a:xfrm>
            <a:off x="678600" y="32270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3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119;g14b438a51ec_0_29"/>
          <p:cNvSpPr/>
          <p:nvPr/>
        </p:nvSpPr>
        <p:spPr>
          <a:xfrm>
            <a:off x="2262600" y="32842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Properties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124;g14b438a51ec_0_69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85" name="Google Shape;125;g14b438a51ec_0_69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2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126;g14b438a51ec_0_69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Recursos públicos e privados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Google Shape;127;g14b438a51ec_0_69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PlaceHolder 1"/>
          <p:cNvSpPr>
            <a:spLocks noGrp="1"/>
          </p:cNvSpPr>
          <p:nvPr>
            <p:ph type="sldNum" idx="7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623FFAF9-B41C-4CD3-A19D-43B27F938A3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133;g14b438a51ec_0_4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134;g14b438a51ec_0_4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Modificadores de acesso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sldNum" idx="7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F43B34F-FADC-4326-A1BA-38D2B9C55AC4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140;g14b438a51ec_0_5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Público: Pode ser acessado de fora da classe.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Privado: Só pode ser acessado pela classe.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141;g14b438a51ec_0_5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Definição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sldNum" idx="7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A109D1A-46A7-4101-950C-C5BCD6AD8E3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147;g14b438a51ec_0_5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148;g14b438a51ec_0_5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Público/Privado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sldNum" idx="7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230C5E9-3E60-431C-8176-0AF099CE16E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154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99" name="Google Shape;155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sldNum" idx="7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C2836DB-2C6E-43F6-A919-EC5ABBFB96F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01" name="Google Shape;157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Conta: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__init__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saldo=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0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bf9000"/>
                          </a:highlight>
                          <a:uFillTx/>
                          <a:latin typeface="Consolas"/>
                          <a:ea typeface="Consolas"/>
                        </a:rPr>
                        <a:t>self._saldo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= saldo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bf9000"/>
                          </a:highlight>
                          <a:uFillTx/>
                          <a:latin typeface="Consolas"/>
                          <a:ea typeface="Consolas"/>
                        </a:rPr>
                        <a:t>depositar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(self,valor):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bf9000"/>
                          </a:highlight>
                          <a:uFillTx/>
                          <a:latin typeface="Consolas"/>
                          <a:ea typeface="Consolas"/>
                        </a:rPr>
                        <a:t>sacar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(self,valor):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162;g14b438a51ec_0_58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163;g14b438a51ec_0_58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164;g14b438a51ec_0_58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encapsulamento?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Num" idx="8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A66E28D-6475-44D8-BDD4-0B03B012A3C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Google Shape;166;g14b438a51ec_0_58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167;g14b438a51ec_0_58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Recursos públicos e privados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168;g14b438a51ec_0_58"/>
          <p:cNvSpPr/>
          <p:nvPr/>
        </p:nvSpPr>
        <p:spPr>
          <a:xfrm>
            <a:off x="678600" y="32270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3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169;g14b438a51ec_0_58"/>
          <p:cNvSpPr/>
          <p:nvPr/>
        </p:nvSpPr>
        <p:spPr>
          <a:xfrm>
            <a:off x="2262600" y="32842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Properties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174;g14b438a51ec_0_20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11" name="Google Shape;175;g14b438a51ec_0_20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3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176;g14b438a51ec_0_20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Properties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177;g14b438a51ec_0_20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PlaceHolder 1"/>
          <p:cNvSpPr>
            <a:spLocks noGrp="1"/>
          </p:cNvSpPr>
          <p:nvPr>
            <p:ph type="sldNum" idx="8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E0FF40A0-B75F-4B25-85F7-6593DD5A3994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183;g14b438a51ec_0_77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184;g14b438a51ec_0_77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Para que servem?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Num" idx="8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D48FF02-C5E3-43DF-A7DD-208FE069D20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190;g14b438a51ec_0_84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19" name="Google Shape;191;g14b438a51ec_0_84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sldNum" idx="8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A4D8730-86EF-4EB8-B287-863473FFADD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21" name="Google Shape;193;g14b438a51ec_0_84"/>
          <p:cNvGraphicFramePr/>
          <p:nvPr/>
        </p:nvGraphicFramePr>
        <p:xfrm>
          <a:off x="567000" y="1481400"/>
          <a:ext cx="8019000" cy="34016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Foo: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__init__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x=None):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self._x = x</a:t>
                      </a:r>
                      <a:br>
                        <a:rPr sz="800"/>
                      </a:b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75715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@property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x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return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self._x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or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0</a:t>
                      </a:r>
                      <a:br>
                        <a:rPr sz="800"/>
                      </a:b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75715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@x.setter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x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value):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_x = self._x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or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0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_value = value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or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0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self._x = _x + _value</a:t>
                      </a:r>
                      <a:br>
                        <a:rPr sz="800"/>
                      </a:b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75715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@x.deleter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8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x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self._x = 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-1</a:t>
                      </a:r>
                      <a:br>
                        <a:rPr sz="800"/>
                      </a:b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foo = Foo(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10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print(foo.x)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foo.x = </a:t>
                      </a:r>
                      <a:r>
                        <a:rPr b="0" lang="en-US" sz="8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10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print(foo.x)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del</a:t>
                      </a: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foo.x</a:t>
                      </a:r>
                      <a:br>
                        <a:rPr sz="800"/>
                      </a:br>
                      <a:r>
                        <a:rPr b="0" lang="en-US" sz="8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print(foo.x)</a:t>
                      </a:r>
                      <a:endParaRPr b="0" lang="pt-BR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198;g14b4f4bbbb0_1_0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199;g14b4f4bbbb0_1_0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200;g14b4f4bbbb0_1_0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encapsulamento?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Num" idx="8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96541B7-5101-483B-B98C-E811357F898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Google Shape;202;g14b4f4bbbb0_1_0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203;g14b4f4bbbb0_1_0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Recursos públicos e privados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204;g14b4f4bbbb0_1_0"/>
          <p:cNvSpPr/>
          <p:nvPr/>
        </p:nvSpPr>
        <p:spPr>
          <a:xfrm>
            <a:off x="678600" y="32270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3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205;g14b4f4bbbb0_1_0"/>
          <p:cNvSpPr/>
          <p:nvPr/>
        </p:nvSpPr>
        <p:spPr>
          <a:xfrm>
            <a:off x="2262600" y="32842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Properties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210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211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sldNum" idx="8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EA88B02-609F-484E-AA11-C360C3E11C6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217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218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5" name="Google Shape;219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Google Shape;220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PlaceHolder 1"/>
          <p:cNvSpPr>
            <a:spLocks noGrp="1"/>
          </p:cNvSpPr>
          <p:nvPr>
            <p:ph type="sldNum" idx="8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50C3C86A-3AB0-4A2B-B375-AE893B67AF4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Polimorfismo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sldNum" idx="8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0BC9860-C63D-4DDF-821B-65C5257A49C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Aprender a criar classes polimórficas com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sldNum" idx="8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5CAFFC9-DAFC-4653-8409-C0BE04AE0EE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Num" idx="8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89F0DB2-4700-47EA-A83E-C9A02EDFBF1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polimorfismo?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sldNum" idx="9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064B1E45-C6C5-4567-B8D1-166FD4B4933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Google Shape;82;p17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83;p17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Polimorfismo com herança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88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54" name="Google Shape;89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90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é polimorfismo?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6" name="Google Shape;91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PlaceHolder 1"/>
          <p:cNvSpPr>
            <a:spLocks noGrp="1"/>
          </p:cNvSpPr>
          <p:nvPr>
            <p:ph type="sldNum" idx="9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3125D4FA-B384-498F-A4F2-D385DA4F171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97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98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Muitas formas!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sldNum" idx="9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8EB0EA8-58F9-4904-ABEB-E4BAB4E0031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104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62" name="Google Shape;105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9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7F7602C4-5BBB-404C-8046-D405BA28D1C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64" name="Google Shape;107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len(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"python"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len([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10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20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30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])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112;g14b2fecb707_0_11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113;g14b2fecb707_0_11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114;g14b2fecb707_0_11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polimorfismo?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sldNum" idx="9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E8F0113-DB8F-4A8A-B538-EA3C4E2EBA1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Google Shape;116;g14b2fecb707_0_11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117;g14b2fecb707_0_11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Polimorfismo com herança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122;g14b438a51ec_0_69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72" name="Google Shape;123;g14b438a51ec_0_69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2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124;g14b438a51ec_0_69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Polimorfismo com herança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125;g14b438a51ec_0_69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PlaceHolder 1"/>
          <p:cNvSpPr>
            <a:spLocks noGrp="1"/>
          </p:cNvSpPr>
          <p:nvPr>
            <p:ph type="sldNum" idx="9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C2D8D5E3-0C47-4933-9EA3-A8A4409BDED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131;g14b438a51ec_0_4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132;g14b438a51ec_0_4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Mesmo método com comportamento diferente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sldNum" idx="9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3AC9200-892A-499C-8E81-75F21539CDB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138;g14b2fecb707_0_1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80" name="Google Shape;139;g14b2fecb707_0_1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sldNum" idx="9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B962BA4-7A2D-4CB5-A7C7-4103D69DEA0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82" name="Google Shape;141;g14b2fecb707_0_1"/>
          <p:cNvGraphicFramePr/>
          <p:nvPr/>
        </p:nvGraphicFramePr>
        <p:xfrm>
          <a:off x="567000" y="1481400"/>
          <a:ext cx="8019000" cy="34088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Passaro: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voar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 </a:t>
                      </a: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pass</a:t>
                      </a:r>
                      <a:br>
                        <a:rPr sz="1200"/>
                      </a:b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Pardal(Passaro):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voar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print(</a:t>
                      </a:r>
                      <a:r>
                        <a:rPr b="0" lang="en-US" sz="12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"Pardal voa"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200"/>
                      </a:b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Avestruz(Passaro):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voar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print(</a:t>
                      </a:r>
                      <a:r>
                        <a:rPr b="0" lang="en-US" sz="12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"Avestruz não voa"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200"/>
                      </a:b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plano_de_voo</a:t>
                      </a: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(passaro):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passaro.voar()</a:t>
                      </a:r>
                      <a:br>
                        <a:rPr sz="1200"/>
                      </a:b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plano_de_voo(Pardal())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plano_de_voo(Avestruz())</a:t>
                      </a:r>
                      <a:endParaRPr b="0" lang="pt-BR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146;g14b2fecb707_0_22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147;g14b2fecb707_0_22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148;g14b2fecb707_0_22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polimorfismo?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sldNum" idx="9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D4AF947-A552-4F3B-B0F5-0AFCC066074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Google Shape;150;g14b2fecb707_0_22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51;g14b2fecb707_0_22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Polimorfismo com herança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156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57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Num" idx="9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E67E963-350C-4395-B80A-5636BD85A89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163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64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Google Shape;165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Google Shape;166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PlaceHolder 1"/>
          <p:cNvSpPr>
            <a:spLocks noGrp="1"/>
          </p:cNvSpPr>
          <p:nvPr>
            <p:ph type="sldNum" idx="10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186CC265-5686-46DC-A4AC-C51DB3D4285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Variáveis de classe e variáveis de instância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 type="sldNum" idx="10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BAE440A-6481-4627-ACC0-48DA68CAF8BC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Entender as diferenças entre variáveis de classe e variáveis de instância.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sldNum" idx="10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97B0BAE-9217-4BA8-BBF1-2B9AC8377D6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sldNum" idx="10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0FB8A8D-E7DD-4176-933A-17A6327D0D8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e como utilizamos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sldNum" idx="10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119F57A-D479-49F8-8545-A606BE9A1E7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86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11" name="Google Shape;87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88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são e quando utilizamos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Google Shape;89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PlaceHolder 1"/>
          <p:cNvSpPr>
            <a:spLocks noGrp="1"/>
          </p:cNvSpPr>
          <p:nvPr>
            <p:ph type="sldNum" idx="10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7717D66C-CCD3-4B8B-9960-433A808BF20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95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96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Atributos do objeto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sldNum" idx="10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FB7E8713-ABD8-43EF-A795-2407A5E43F60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102;g138758748e6_0_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40a24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19" name="Google Shape;103;g138758748e6_0_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Exemplo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1"/>
          <p:cNvSpPr>
            <a:spLocks noGrp="1"/>
          </p:cNvSpPr>
          <p:nvPr>
            <p:ph type="sldNum" idx="10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26C202D-99F1-4DEA-A1B2-9EF85DE6BE6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21" name="Google Shape;105;g138758748e6_0_6"/>
          <p:cNvGraphicFramePr/>
          <p:nvPr/>
        </p:nvGraphicFramePr>
        <p:xfrm>
          <a:off x="567000" y="1481400"/>
          <a:ext cx="8019000" cy="3081240"/>
        </p:xfrm>
        <a:graphic>
          <a:graphicData uri="http://schemas.openxmlformats.org/drawingml/2006/table">
            <a:tbl>
              <a:tblPr/>
              <a:tblGrid>
                <a:gridCol w="8019000"/>
              </a:tblGrid>
              <a:tr h="3081240">
                <a:tc>
                  <a:txBody>
                    <a:bodyPr lIns="63360" rIns="63360" tIns="63360" bIns="6336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Estudante: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escola = 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"DIO"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__init__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(self, nome, numero):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self.nome = nome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self.numero = numero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def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a6e22e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__str__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(self):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       </a:t>
                      </a:r>
                      <a:r>
                        <a:rPr b="0" lang="en-US" sz="1400" strike="noStrike" u="none">
                          <a:solidFill>
                            <a:srgbClr val="f9267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return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f"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{self.nome}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 (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{self.numero}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 - 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{self.escola}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</a:t>
                      </a:r>
                      <a:br>
                        <a:rPr sz="1400"/>
                      </a:b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gui = Estudante(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"Guilherme"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56451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br>
                        <a:rPr sz="1400"/>
                      </a:b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gi = Estudante(</a:t>
                      </a:r>
                      <a:r>
                        <a:rPr b="0" lang="en-US" sz="1400" strike="noStrike" u="none">
                          <a:solidFill>
                            <a:srgbClr val="e6db74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"Giovanna"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, </a:t>
                      </a:r>
                      <a:r>
                        <a:rPr b="0" lang="en-US" sz="1400" strike="noStrike" u="none">
                          <a:solidFill>
                            <a:srgbClr val="ae81ff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17323</a:t>
                      </a:r>
                      <a:r>
                        <a:rPr b="0" lang="en-US" sz="1400" strike="noStrike" u="none">
                          <a:solidFill>
                            <a:srgbClr val="f8f8f2"/>
                          </a:solidFill>
                          <a:effectLst/>
                          <a:highlight>
                            <a:srgbClr val="23241f"/>
                          </a:highlight>
                          <a:uFillTx/>
                          <a:latin typeface="Consolas"/>
                          <a:ea typeface="Consolas"/>
                        </a:rPr>
                        <a:t>)</a:t>
                      </a:r>
                      <a:endParaRPr b="0" lang="pt-B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3241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110;g14b4d75f50a_0_3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111;g14b4d75f50a_0_3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112;g14b4d75f50a_0_3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e como utilizamos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Num" idx="10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8575376E-D88A-42D5-AD86-F751F388CAF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118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119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1"/>
          <p:cNvSpPr>
            <a:spLocks noGrp="1"/>
          </p:cNvSpPr>
          <p:nvPr>
            <p:ph type="sldNum" idx="10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C3C6903-890E-49D6-BD6C-F2D0217E743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125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126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1" name="Google Shape;127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Google Shape;128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PlaceHolder 1"/>
          <p:cNvSpPr>
            <a:spLocks noGrp="1"/>
          </p:cNvSpPr>
          <p:nvPr>
            <p:ph type="sldNum" idx="11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84B1AD14-AB2D-4C79-9C62-39CA87CCFF7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sldNum" idx="11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B166113-FA8D-444E-B4C3-FE7F0457650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Métodos de classe e métodos estáticos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sldNum" idx="11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F9BE3C8-0823-482E-B1B4-0E772EADD0D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Entender as diferenças entre métodos de classe e métodos estáticos.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sldNum" idx="11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FE5B2820-8106-4C37-8C58-EED151445E2C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sldNum" idx="11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5017CB87-29E4-42E9-9CC8-34F8751B0CD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e como utilizamos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sldNum" idx="11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15E38B4-7461-4DDA-8958-CEC15D30651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86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50" name="Google Shape;87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88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são e quando utilizamos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2" name="Google Shape;89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PlaceHolder 1"/>
          <p:cNvSpPr>
            <a:spLocks noGrp="1"/>
          </p:cNvSpPr>
          <p:nvPr>
            <p:ph type="sldNum" idx="11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896E6427-4FD1-4CB6-8063-E2E309B68594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95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96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Métodos de classe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sldNum" idx="11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C1178F2-FEE4-4B60-9AEB-46494A0884C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102;g138d08c3c7b_0_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103;g138d08c3c7b_0_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Métodos estáticos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sldNum" idx="11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F277287B-0569-4D64-AC7B-8B3B8EA1913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109;g138d08c3c7b_0_9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Um método de classe recebe um primeiro parâmetro que aponta para a classe, enquanto um método estático não.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Um método de classe pode acessar ou modificar o estado da classe enquanto um método estático não pode acessá-lo ou modificá-lo.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110;g138d08c3c7b_0_9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Métodos de classe x métodos estáticos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sldNum" idx="11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DFA6FEF-BF09-4A81-AD08-DCFD98FCE16B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116;g138d08c3c7b_0_74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Geralmente usamos o método de classe para criar métodos de fábrica.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 algn="just">
              <a:lnSpc>
                <a:spcPct val="115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Geralmente usamos métodos estáticos para criar funções utilitárias.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117;g138d08c3c7b_0_74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Quanto utilizar método de classe ou estático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sldNum" idx="12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EEFC98A7-4409-4A09-9794-5870AA00DD0A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123;g138d08c3c7b_0_19"/>
          <p:cNvSpPr/>
          <p:nvPr/>
        </p:nvSpPr>
        <p:spPr>
          <a:xfrm>
            <a:off x="565560" y="1355400"/>
            <a:ext cx="7737120" cy="33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“Falar é fácil.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 Mostre-me o código!”</a:t>
            </a:r>
            <a:br>
              <a:rPr sz="2400"/>
            </a:b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3600" strike="noStrike" u="sng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  <a:hlinkClick r:id="rId1"/>
              </a:rPr>
              <a:t>Linus Torvalds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Google Shape;124;g138d08c3c7b_0_19" descr=""/>
          <p:cNvPicPr/>
          <p:nvPr/>
        </p:nvPicPr>
        <p:blipFill>
          <a:blip r:embed="rId2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PlaceHolder 1"/>
          <p:cNvSpPr>
            <a:spLocks noGrp="1"/>
          </p:cNvSpPr>
          <p:nvPr>
            <p:ph type="sldNum" idx="12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99253075-0501-4187-A9B8-9397F515FA7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Google Shape;126;g138d08c3c7b_0_19"/>
          <p:cNvSpPr/>
          <p:nvPr/>
        </p:nvSpPr>
        <p:spPr>
          <a:xfrm>
            <a:off x="565560" y="870480"/>
            <a:ext cx="79909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Hands On!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131;g14b4d75f50a_0_3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132;g14b4d75f50a_0_3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133;g14b4d75f50a_0_3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e como utilizamos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sldNum" idx="12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A11C7B6-622D-4B4F-B25A-7AFAA2FB911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139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140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1"/>
          <p:cNvSpPr>
            <a:spLocks noGrp="1"/>
          </p:cNvSpPr>
          <p:nvPr>
            <p:ph type="sldNum" idx="12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CE40E72E-7465-44C7-887B-A72BC433E461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146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147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Google Shape;148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Google Shape;149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PlaceHolder 1"/>
          <p:cNvSpPr>
            <a:spLocks noGrp="1"/>
          </p:cNvSpPr>
          <p:nvPr>
            <p:ph type="sldNum" idx="12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45DA81E3-EAC5-40E0-B719-AC9D39BAA70F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57;p2"/>
          <p:cNvSpPr/>
          <p:nvPr/>
        </p:nvSpPr>
        <p:spPr>
          <a:xfrm>
            <a:off x="565560" y="3011400"/>
            <a:ext cx="67615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Guilherme Arthur de Carvalho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Analista de sistemas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@decarvalhogui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Google Shape;58;p2"/>
          <p:cNvSpPr/>
          <p:nvPr/>
        </p:nvSpPr>
        <p:spPr>
          <a:xfrm>
            <a:off x="565560" y="636480"/>
            <a:ext cx="799092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Classes abstratas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sldNum" idx="12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B375278-E28E-4234-9EB5-537BAA9B972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64;p3"/>
          <p:cNvSpPr/>
          <p:nvPr/>
        </p:nvSpPr>
        <p:spPr>
          <a:xfrm>
            <a:off x="565560" y="1857600"/>
            <a:ext cx="8016480" cy="20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Aprender o conceito de contrato e como podemos utilizar classes abstratas em Python para implementá-los.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65;p3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Objetivo Geral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sldNum" idx="12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4E211769-D1C7-4E10-AC10-0915A29C8C5C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71;g116295da5bc_0_6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marL="457200" indent="-380880" algn="just">
              <a:lnSpc>
                <a:spcPct val="100000"/>
              </a:lnSpc>
              <a:buClr>
                <a:srgbClr val="040a24"/>
              </a:buClr>
              <a:buFont typeface="Calibri"/>
              <a:buChar char="●"/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Conhecimento básico em Python.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72;g116295da5bc_0_62"/>
          <p:cNvSpPr/>
          <p:nvPr/>
        </p:nvSpPr>
        <p:spPr>
          <a:xfrm>
            <a:off x="56556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Pré-requisitos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1"/>
          <p:cNvSpPr>
            <a:spLocks noGrp="1"/>
          </p:cNvSpPr>
          <p:nvPr>
            <p:ph type="sldNum" idx="12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7908D485-63F8-47B8-BCEA-38CD47284087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78;p17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79;p17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80;p17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interfaces?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sldNum" idx="12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3DD94D38-07A7-477C-8995-1DACC9712A4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Google Shape;82;p17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83;p17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Criando classes abstratas com o módulo abc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88;p5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98" name="Google Shape;89;p5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1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90;p5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O que são interfaces?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0" name="Google Shape;91;p5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PlaceHolder 1"/>
          <p:cNvSpPr>
            <a:spLocks noGrp="1"/>
          </p:cNvSpPr>
          <p:nvPr>
            <p:ph type="sldNum" idx="12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26AE9A5F-00B3-45D3-AA0D-7824108463AD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97;g1387437fc74_0_0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Interfaces definem o que uma classe deve fazer e não como.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98;g1387437fc74_0_0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Importante!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sldNum" idx="13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8B99332D-E70F-45BD-8EC6-5E7CFDF9FFD5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104;g1502493fa1d_0_22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105;g1502493fa1d_0_22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Python tem interface?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 type="sldNum" idx="13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E860343-6184-48BB-AB89-8259AC46348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111;g1502493fa1d_0_0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112;g1502493fa1d_0_0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113;g1502493fa1d_0_0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são interfaces?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sldNum" idx="13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2B25EEB5-8D9A-4FD5-A867-FAF2305FE826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Google Shape;115;g1502493fa1d_0_0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116;g1502493fa1d_0_0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Criando classes abstratas com o módulo abc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121;g14b438a51ec_0_69"/>
          <p:cNvSpPr/>
          <p:nvPr/>
        </p:nvSpPr>
        <p:spPr>
          <a:xfrm>
            <a:off x="565560" y="3829320"/>
            <a:ext cx="740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1" lang="pt-BR" sz="1400" strike="noStrike" u="none">
              <a:solidFill>
                <a:srgbClr val="a5a5a5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15" name="Google Shape;122;g14b438a51ec_0_69"/>
          <p:cNvSpPr/>
          <p:nvPr/>
        </p:nvSpPr>
        <p:spPr>
          <a:xfrm>
            <a:off x="565560" y="870480"/>
            <a:ext cx="7409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Etapa 2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23;g14b438a51ec_0_69"/>
          <p:cNvSpPr/>
          <p:nvPr/>
        </p:nvSpPr>
        <p:spPr>
          <a:xfrm>
            <a:off x="565560" y="1785600"/>
            <a:ext cx="740988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Criando classes abstratas com o módulo abc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Google Shape;124;g14b438a51ec_0_69" descr=""/>
          <p:cNvPicPr/>
          <p:nvPr/>
        </p:nvPicPr>
        <p:blipFill>
          <a:blip r:embed="rId1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PlaceHolder 1"/>
          <p:cNvSpPr>
            <a:spLocks noGrp="1"/>
          </p:cNvSpPr>
          <p:nvPr>
            <p:ph type="sldNum" idx="13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73C3685F-50E4-4C79-A2E5-C5276018977E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130;g14b438a51ec_0_46"/>
          <p:cNvSpPr/>
          <p:nvPr/>
        </p:nvSpPr>
        <p:spPr>
          <a:xfrm>
            <a:off x="565560" y="1481040"/>
            <a:ext cx="8016480" cy="30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b="1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@abstractmethod</a:t>
            </a:r>
            <a:r>
              <a:rPr b="0" lang="en-US" sz="24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31;g14b438a51ec_0_46"/>
          <p:cNvSpPr/>
          <p:nvPr/>
        </p:nvSpPr>
        <p:spPr>
          <a:xfrm>
            <a:off x="563400" y="63648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ABC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1"/>
          <p:cNvSpPr>
            <a:spLocks noGrp="1"/>
          </p:cNvSpPr>
          <p:nvPr>
            <p:ph type="sldNum" idx="13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691B6524-305A-4DD2-86FD-F005EBE7113C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137;g1502493fa1d_0_34"/>
          <p:cNvSpPr/>
          <p:nvPr/>
        </p:nvSpPr>
        <p:spPr>
          <a:xfrm>
            <a:off x="565560" y="1355400"/>
            <a:ext cx="7737120" cy="33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“Falar é fácil.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 Mostre-me o código!”</a:t>
            </a:r>
            <a:br>
              <a:rPr sz="2400"/>
            </a:b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3600" strike="noStrike" u="sng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  <a:hlinkClick r:id="rId1"/>
              </a:rPr>
              <a:t>Linus Torvalds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3" name="Google Shape;138;g1502493fa1d_0_34" descr=""/>
          <p:cNvPicPr/>
          <p:nvPr/>
        </p:nvPicPr>
        <p:blipFill>
          <a:blip r:embed="rId2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PlaceHolder 1"/>
          <p:cNvSpPr>
            <a:spLocks noGrp="1"/>
          </p:cNvSpPr>
          <p:nvPr>
            <p:ph type="sldNum" idx="13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A465F838-AA30-4041-9179-18C91E071178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Google Shape;140;g1502493fa1d_0_34"/>
          <p:cNvSpPr/>
          <p:nvPr/>
        </p:nvSpPr>
        <p:spPr>
          <a:xfrm>
            <a:off x="565560" y="870480"/>
            <a:ext cx="79909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Hands On!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145;g1502493fa1d_0_89"/>
          <p:cNvSpPr/>
          <p:nvPr/>
        </p:nvSpPr>
        <p:spPr>
          <a:xfrm>
            <a:off x="565560" y="636480"/>
            <a:ext cx="74098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Percurso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146;g1502493fa1d_0_89"/>
          <p:cNvSpPr/>
          <p:nvPr/>
        </p:nvSpPr>
        <p:spPr>
          <a:xfrm>
            <a:off x="678600" y="18518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1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147;g1502493fa1d_0_89"/>
          <p:cNvSpPr/>
          <p:nvPr/>
        </p:nvSpPr>
        <p:spPr>
          <a:xfrm>
            <a:off x="2262600" y="190872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O que é contratos?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1"/>
          <p:cNvSpPr>
            <a:spLocks noGrp="1"/>
          </p:cNvSpPr>
          <p:nvPr>
            <p:ph type="sldNum" idx="13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D3415D29-9AF7-4FA7-8E61-E174B07A6D1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Google Shape;149;g1502493fa1d_0_89"/>
          <p:cNvSpPr/>
          <p:nvPr/>
        </p:nvSpPr>
        <p:spPr>
          <a:xfrm>
            <a:off x="678600" y="2539440"/>
            <a:ext cx="1379520" cy="575640"/>
          </a:xfrm>
          <a:prstGeom prst="rect">
            <a:avLst/>
          </a:prstGeom>
          <a:solidFill>
            <a:srgbClr val="ea4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sng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Etapa 2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150;g1502493fa1d_0_89"/>
          <p:cNvSpPr/>
          <p:nvPr/>
        </p:nvSpPr>
        <p:spPr>
          <a:xfrm>
            <a:off x="2262600" y="2596680"/>
            <a:ext cx="6174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sng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Criando classes abstratas com o módulo abc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155;g122e3ca075f_0_56"/>
          <p:cNvSpPr/>
          <p:nvPr/>
        </p:nvSpPr>
        <p:spPr>
          <a:xfrm>
            <a:off x="565560" y="1293120"/>
            <a:ext cx="8016480" cy="34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https://github.com/digitalinnovationone/trilha-python-dio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Calibri"/>
              <a:buChar char="●"/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https://docs.python.org/pt-br/3/library/abc.html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156;g122e3ca075f_0_56"/>
          <p:cNvSpPr/>
          <p:nvPr/>
        </p:nvSpPr>
        <p:spPr>
          <a:xfrm>
            <a:off x="565560" y="448560"/>
            <a:ext cx="80164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Links Úteis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sldNum" idx="13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[</a:t>
            </a:r>
            <a:fld id="{B91DDBAA-9FE1-4A7D-B974-21C12F94A153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040a24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162;p14"/>
          <p:cNvSpPr/>
          <p:nvPr/>
        </p:nvSpPr>
        <p:spPr>
          <a:xfrm>
            <a:off x="1162080" y="2962440"/>
            <a:ext cx="4442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7632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Fórum/Artigos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&gt;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Comunidade </a:t>
            </a: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Calibri"/>
                <a:ea typeface="Calibri"/>
                <a:hlinkClick r:id="rId1"/>
              </a:rPr>
              <a:t>Online (Discord)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Google Shape;163;p14"/>
          <p:cNvSpPr/>
          <p:nvPr/>
        </p:nvSpPr>
        <p:spPr>
          <a:xfrm>
            <a:off x="1162080" y="1316880"/>
            <a:ext cx="6574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ea4e60"/>
                </a:solidFill>
                <a:effectLst/>
                <a:uFillTx/>
                <a:latin typeface="Century Gothic"/>
                <a:ea typeface="Century Gothic"/>
              </a:rPr>
              <a:t>Dúvidas?</a:t>
            </a:r>
            <a:endParaRPr b="0" lang="pt-BR" sz="5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7" name="Google Shape;164;p14" descr=""/>
          <p:cNvPicPr/>
          <p:nvPr/>
        </p:nvPicPr>
        <p:blipFill>
          <a:blip r:embed="rId2"/>
          <a:stretch/>
        </p:blipFill>
        <p:spPr>
          <a:xfrm>
            <a:off x="6642720" y="2029680"/>
            <a:ext cx="1484640" cy="18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Google Shape;165;p14" descr=""/>
          <p:cNvPicPr/>
          <p:nvPr/>
        </p:nvPicPr>
        <p:blipFill>
          <a:blip r:embed="rId3"/>
          <a:stretch/>
        </p:blipFill>
        <p:spPr>
          <a:xfrm>
            <a:off x="8127360" y="120240"/>
            <a:ext cx="851040" cy="33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PlaceHolder 1"/>
          <p:cNvSpPr>
            <a:spLocks noGrp="1"/>
          </p:cNvSpPr>
          <p:nvPr>
            <p:ph type="sldNum" idx="13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[</a:t>
            </a:r>
            <a:fld id="{6443D23E-EDDE-49F6-8236-3F358DA10652}" type="slidenum"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r>
              <a:rPr b="0" lang="en-US" sz="1300" strike="noStrike" u="none">
                <a:solidFill>
                  <a:srgbClr val="ea4e60"/>
                </a:solidFill>
                <a:effectLst/>
                <a:uFillTx/>
                <a:latin typeface="Calibri"/>
                <a:ea typeface="Calibri"/>
              </a:rPr>
              <a:t>]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dc:description/>
  <dc:language>pt-BR</dc:language>
  <cp:lastModifiedBy>Lizandra Silva</cp:lastModifiedBy>
  <dcterms:modified xsi:type="dcterms:W3CDTF">2026-01-08T00:52:20Z</dcterms:modified>
  <cp:revision>3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Notes">
    <vt:i4>125</vt:i4>
  </property>
  <property fmtid="{D5CDD505-2E9C-101B-9397-08002B2CF9AE}" pid="4" name="PresentationFormat">
    <vt:lpwstr>Apresentação na tela (16:9)</vt:lpwstr>
  </property>
  <property fmtid="{D5CDD505-2E9C-101B-9397-08002B2CF9AE}" pid="5" name="Slides">
    <vt:i4>126</vt:i4>
  </property>
</Properties>
</file>